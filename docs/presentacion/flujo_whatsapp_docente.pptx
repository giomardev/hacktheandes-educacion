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91440" cy="4114800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" y="1097280"/>
            <a:ext cx="4114800" cy="365760"/>
          </a:xfrm>
          <a:prstGeom prst="roundRect">
            <a:avLst/>
          </a:prstGeom>
          <a:solidFill>
            <a:srgbClr val="162030"/>
          </a:solidFill>
          <a:ln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A884"/>
                </a:solidFill>
                <a:latin typeface="Segoe UI"/>
              </a:defRPr>
            </a:pPr>
            <a:r>
              <a:t>HACK THE ANDES 2026 · RETO EDUCACIÓN ESCOLAR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600200"/>
            <a:ext cx="6217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Amauta·IA: Flujo WhatsApp para el Docente</a:t>
            </a:r>
          </a:p>
          <a:p>
            <a:pPr>
              <a:spcBef>
                <a:spcPts val="1200"/>
              </a:spcBef>
              <a:defRPr sz="1500">
                <a:solidFill>
                  <a:srgbClr val="94A3B8"/>
                </a:solidFill>
                <a:latin typeface="Segoe UI"/>
              </a:defRPr>
            </a:pPr>
            <a:r>
              <a:t>Demostración de cómo un audio de 3 segundos se transforma en un registro curricular oficial con cero burocracia.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3566160"/>
            <a:ext cx="6035040" cy="822960"/>
          </a:xfrm>
          <a:prstGeom prst="roundRect">
            <a:avLst/>
          </a:prstGeom>
          <a:solidFill>
            <a:srgbClr val="162030"/>
          </a:solidFill>
          <a:ln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A884"/>
                </a:solidFill>
                <a:latin typeface="Segoe UI"/>
              </a:defRPr>
            </a:pPr>
            <a:r>
              <a:t>🎙️ 100% Manos Libres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El profesor habla naturalmente en clase; no abre apps ni llena formularios.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4526280"/>
            <a:ext cx="6035040" cy="822960"/>
          </a:xfrm>
          <a:prstGeom prst="roundRect">
            <a:avLst/>
          </a:prstGeom>
          <a:solidFill>
            <a:srgbClr val="162030"/>
          </a:solidFill>
          <a:ln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A884"/>
                </a:solidFill>
                <a:latin typeface="Segoe UI"/>
              </a:defRPr>
            </a:pPr>
            <a:r>
              <a:t>🔍 Desambiguación Proactiva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Cruce instantáneo con la lista del aula para evitar confusiones de homónimos.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5486400"/>
            <a:ext cx="6035040" cy="822960"/>
          </a:xfrm>
          <a:prstGeom prst="roundRect">
            <a:avLst/>
          </a:prstGeom>
          <a:solidFill>
            <a:srgbClr val="162030"/>
          </a:solidFill>
          <a:ln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A884"/>
                </a:solidFill>
                <a:latin typeface="Segoe UI"/>
              </a:defRPr>
            </a:pPr>
            <a:r>
              <a:t>📋 Alineamiento CNEB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Mapeo semántico automático a las competencias oficiales del Currículo Nacional.</a:t>
            </a:r>
          </a:p>
        </p:txBody>
      </p:sp>
      <p:pic>
        <p:nvPicPr>
          <p:cNvPr id="9" name="Picture 8" descr="mockup_phon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548640"/>
            <a:ext cx="304800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9184"/>
          </a:xfrm>
          <a:prstGeom prst="roundRect">
            <a:avLst/>
          </a:prstGeom>
          <a:solidFill>
            <a:srgbClr val="26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A884"/>
                </a:solidFill>
                <a:latin typeface="Segoe UI"/>
              </a:defRPr>
            </a:pPr>
            <a:r>
              <a:t>ARQUITECTURA DE LA EXPERIENCIA DOCENTE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El Flujo Conversacional en 3 Fases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Diseñado específicamente para el ritmo acelerado del aula: simple para el docente, potente bajo el capó.</a:t>
            </a:r>
          </a:p>
        </p:txBody>
      </p:sp>
      <p:pic>
        <p:nvPicPr>
          <p:cNvPr id="6" name="Picture 5" descr="mockup_phon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2476500" cy="4754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0" y="1737360"/>
            <a:ext cx="7315200" cy="1371600"/>
          </a:xfrm>
          <a:prstGeom prst="roundRect">
            <a:avLst/>
          </a:prstGeom>
          <a:solidFill>
            <a:srgbClr val="162030"/>
          </a:solidFill>
          <a:ln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A884"/>
                </a:solidFill>
                <a:latin typeface="Segoe UI"/>
              </a:defRPr>
            </a:pPr>
            <a:r>
              <a:t>PASO 1: ENTRADA POR VOZ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El docente envía un audio breve de 3 seg.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El sistema transcribe con Whisper, identifica la intención ('participó en lectura') y detecta qué dato falta para completar el registro.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737360"/>
            <a:ext cx="109728" cy="1371600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0" y="3291839"/>
            <a:ext cx="7315200" cy="1371600"/>
          </a:xfrm>
          <a:prstGeom prst="roundRect">
            <a:avLst/>
          </a:prstGeom>
          <a:solidFill>
            <a:srgbClr val="162030"/>
          </a:solidFill>
          <a:ln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PASO 2: CONSULTA Y DESAMBIGUACIÓN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El docente responde 'Huamán' por audio.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El agente consulta la nómina escolar y detecta 2 homónimos (Brayan y Sheyla). Pregunta con calidez en vez de cometer errores.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3291839"/>
            <a:ext cx="109728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0" y="4846320"/>
            <a:ext cx="7315200" cy="1371600"/>
          </a:xfrm>
          <a:prstGeom prst="roundRect">
            <a:avLst/>
          </a:prstGeom>
          <a:solidFill>
            <a:srgbClr val="162030"/>
          </a:solidFill>
          <a:ln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PASO 3: VINCULACIÓN CNEB Y CIERRE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El docente confirma 'Sheyla' por audio.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El sistema vincula la observación con la competencia curricular oficial y confirma el registro listo para SIAGIE.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4846320"/>
            <a:ext cx="109728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9184"/>
          </a:xfrm>
          <a:prstGeom prst="roundRect">
            <a:avLst/>
          </a:prstGeom>
          <a:solidFill>
            <a:srgbClr val="26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A884"/>
                </a:solidFill>
                <a:latin typeface="Segoe UI"/>
              </a:defRPr>
            </a:pPr>
            <a:r>
              <a:t>PASO 1 · INTERACCIÓN INICIAL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Captura Rápida de Voz y Detección de Intención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El profesor no escribe: graba un audio de 3 segundos mientras atiende a sus alumnos.</a:t>
            </a:r>
          </a:p>
        </p:txBody>
      </p:sp>
      <p:pic>
        <p:nvPicPr>
          <p:cNvPr id="6" name="Picture 5" descr="mockup_phone_st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2476500" cy="4754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0" y="1737360"/>
            <a:ext cx="7315200" cy="1463040"/>
          </a:xfrm>
          <a:prstGeom prst="roundRect">
            <a:avLst/>
          </a:prstGeom>
          <a:solidFill>
            <a:srgbClr val="162030"/>
          </a:solidFill>
          <a:ln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A884"/>
                </a:solidFill>
                <a:latin typeface="Segoe UI"/>
              </a:defRPr>
            </a:pPr>
            <a:r>
              <a:t>1. ACCIÓN DEL PROFESOR (AULA EN VIVO)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🎙️ Nota de voz de 3 segundos (1:31 a.m.):</a:t>
            </a:r>
          </a:p>
          <a:p>
            <a:pPr>
              <a:defRPr sz="1100" i="1">
                <a:solidFill>
                  <a:srgbClr val="E2E8F0"/>
                </a:solidFill>
                <a:latin typeface="Segoe UI"/>
              </a:defRPr>
            </a:pPr>
            <a:r>
              <a:t>"Un estudiante participó mucho en la clase de lectura hoy, pero se me pasó anotar su nombre en el momento..."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3337560"/>
            <a:ext cx="7315200" cy="3154680"/>
          </a:xfrm>
          <a:prstGeom prst="roundRect">
            <a:avLst/>
          </a:prstGeom>
          <a:solidFill>
            <a:srgbClr val="162030"/>
          </a:solidFill>
          <a:ln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2. QUÉ PROCESA EL ASISTENTE (DETRÁS DE ESCENA)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Transcripción Instantánea (Speech-to-Text): 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  Convierte el audio del aula a texto mediante modelos de lenguaje optimizados para español peruano.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Extracción Semántica de Entidades: 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  Identifica que se trata de un logro de participación en el área de Comunicación / Comprensión Lectora.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Detección de Dato Faltante (Slot Filling): 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  El sistema no falla ni rechaza el pedido: detecta proactivamente que falta el nombre del alumno.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Respuesta Guiada y Amable: 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  "Entendí que un estudiante participó mucho en la clase de lectura, pero necesito que me indiques su nombre. ¿A quién te refieres? 📋"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9184"/>
          </a:xfrm>
          <a:prstGeom prst="roundRect">
            <a:avLst/>
          </a:prstGeom>
          <a:solidFill>
            <a:srgbClr val="26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A884"/>
                </a:solidFill>
                <a:latin typeface="Segoe UI"/>
              </a:defRPr>
            </a:pPr>
            <a:r>
              <a:t>PASO 2 · BÚSQUEDA Y VALIDACIÓN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Resolución de Ambigüedad y Detección de Homónimos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El docente dice solo el apellido; el sistema cruza con la nómina escolar y evita errores humanos.</a:t>
            </a:r>
          </a:p>
        </p:txBody>
      </p:sp>
      <p:pic>
        <p:nvPicPr>
          <p:cNvPr id="6" name="Picture 5" descr="mockup_phone_ste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2476500" cy="4754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0" y="1737360"/>
            <a:ext cx="7315200" cy="4754880"/>
          </a:xfrm>
          <a:prstGeom prst="roundRect">
            <a:avLst/>
          </a:prstGeom>
          <a:solidFill>
            <a:srgbClr val="162030"/>
          </a:solidFill>
          <a:ln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1. EL RETO COMÚN EN EL AULA: COINCIDENCIA DE APELLIDOS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El docente envía una segunda nota de voz de 2 segundos: "Huamán"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En la educación peruana es muy frecuente tener alumnos hermanos o primos con el mismo apellido en el mismo salón o grado. Un sistema rígido fallaría o asignaría al alumno incorrecto.</a:t>
            </a:r>
          </a:p>
          <a:p>
            <a:pPr>
              <a:spcBef>
                <a:spcPts val="1200"/>
              </a:spcBef>
              <a:defRPr sz="1100" b="1">
                <a:solidFill>
                  <a:srgbClr val="00A884"/>
                </a:solidFill>
                <a:latin typeface="Segoe UI"/>
              </a:defRPr>
            </a:pPr>
            <a:r>
              <a:t>2. CÓMO LO RESUELVE AMAUTA·IA EN TIEMPO REAL: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Consulta a la Base de Datos del Aula: 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  Busca coincidencias difusas (fuzzy search) en la lista de matrícula de la sección.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Detección de Homónimos: 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  Identifica que existen 2 estudiantes registrados: Brayan Huamán Ríos y Sheyla Huamán Ríos.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Cero Suposiciones (Datos Verídicos): 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  En lugar de asumir cuál de los dos es, el sistema presenta las opciones claras y numeradas.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Pregunta de Confirmación: 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  "¿Podrías confirmar a cuál de ellos te refieres? 🤔" con tono pedagógico empático.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9184"/>
          </a:xfrm>
          <a:prstGeom prst="roundRect">
            <a:avLst/>
          </a:prstGeom>
          <a:solidFill>
            <a:srgbClr val="26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A884"/>
                </a:solidFill>
                <a:latin typeface="Segoe UI"/>
              </a:defRPr>
            </a:pPr>
            <a:r>
              <a:t>PASO 3 · MAPEO CURRICULAR Y 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Alineamiento Automático con el CNEB y Registro Oficial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De un audio de WhatsApp a una competencia oficial del Currículo Nacional registrada para SIAGIE.</a:t>
            </a:r>
          </a:p>
        </p:txBody>
      </p:sp>
      <p:pic>
        <p:nvPicPr>
          <p:cNvPr id="6" name="Picture 5" descr="mockup_phone_ste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2476500" cy="4754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0" y="1737360"/>
            <a:ext cx="7315200" cy="4754880"/>
          </a:xfrm>
          <a:prstGeom prst="roundRect">
            <a:avLst/>
          </a:prstGeom>
          <a:solidFill>
            <a:srgbClr val="162030"/>
          </a:solidFill>
          <a:ln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1. CIERRE TRANSACCIONAL RÁPIDO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El docente confirma por audio de 2 segundos: "A Sheyla Huamán"</a:t>
            </a:r>
          </a:p>
          <a:p>
            <a:pPr>
              <a:spcBef>
                <a:spcPts val="1200"/>
              </a:spcBef>
              <a:defRPr sz="1100" b="1">
                <a:solidFill>
                  <a:srgbClr val="00A884"/>
                </a:solidFill>
                <a:latin typeface="Segoe UI"/>
              </a:defRPr>
            </a:pPr>
            <a:r>
              <a:t>2. EL MAYOR VALOR: MAPEO CURRICULAR AUTOMÁTICO (CNEB)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Asignación de Competencia Oficial: 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  El sistema categoriza la observación dentro del marco CNEB: 'Lee diversos tipos de textos escritos en su lengua materna'.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Registro Estructurado: 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  Guarda el evento con fecha, hora, tipo de logro formativo y código de estudiante en el repositorio de la escuela.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Confirmación Inmediata con Check Verde (✅): 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  "✅ Registré la participación activa de Sheyla Huamán en la competencia Lee diversos tipos de textos escritos en su lengua materna. ¿Algo más que quieras anotar?"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Sincronización con Alerta Escuela / SIAGIE: 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  Alimentará automáticamente las conclusiones descriptivas al final del periodo sin trasnoches de papeleo.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9184"/>
          </a:xfrm>
          <a:prstGeom prst="roundRect">
            <a:avLst/>
          </a:prstGeom>
          <a:solidFill>
            <a:srgbClr val="26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A884"/>
                </a:solidFill>
                <a:latin typeface="Segoe UI"/>
              </a:defRPr>
            </a:pPr>
            <a:r>
              <a:t>VALIDACIÓN TÉCNICA FUNCIONAL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Prueba de Concepto en Vivo sobre WhatsApp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Captura real de la interacción entre el docente y el agente: transcripción, desambiguación y confirmación.</a:t>
            </a:r>
          </a:p>
        </p:txBody>
      </p:sp>
      <p:pic>
        <p:nvPicPr>
          <p:cNvPr id="6" name="Picture 5" descr="media_1792321716820_cb601a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20240"/>
            <a:ext cx="6583680" cy="409551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89520" y="1920240"/>
            <a:ext cx="3840480" cy="4480560"/>
          </a:xfrm>
          <a:prstGeom prst="roundRect">
            <a:avLst/>
          </a:prstGeom>
          <a:solidFill>
            <a:srgbClr val="162030"/>
          </a:solidFill>
          <a:ln>
            <a:solidFill>
              <a:srgbClr val="00A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A884"/>
                </a:solidFill>
                <a:latin typeface="Segoe UI"/>
              </a:defRPr>
            </a:pPr>
            <a:r>
              <a:t>🔬 ANÁLISIS DE LA PRUEBA REAL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• Audios reales de 1 a 3 seg: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  El docente envía notas breves; el sistema responde en menos de 2 segundos.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• Detección de dato incompleto: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  "Entendí que un estudiante participó... pero necesito su nombre".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• Resolución de homónimos: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  Detecta a Brayan y Sheyla Huamán sin equivocarse ni mezclar expedientes.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• Cierre curricular con éxito: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  Vincula la nota a 'Lee diversos tipos de textos escritos en su lengua materna'.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• Listo para escalar: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  No requiere soporte de hardware adicional ni apps pesadas.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9184"/>
          </a:xfrm>
          <a:prstGeom prst="roundRect">
            <a:avLst/>
          </a:prstGeom>
          <a:solidFill>
            <a:srgbClr val="26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A884"/>
                </a:solidFill>
                <a:latin typeface="Segoe UI"/>
              </a:defRPr>
            </a:pPr>
            <a:r>
              <a:t>IMPACTO Y PROPUESTA DE VALOR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Comparativa: El Modelo Burocrático vs. Amauta·IA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Por qué esta solución resuelve el cuello de botella que las plataformas web gubernamentales no han podido cerrar.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572000"/>
          </a:xfrm>
          <a:prstGeom prst="roundRect">
            <a:avLst/>
          </a:prstGeom>
          <a:solidFill>
            <a:srgbClr val="162030"/>
          </a:solidFill>
          <a:ln>
            <a:solidFill>
              <a:srgbClr val="D91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91023"/>
                </a:solidFill>
                <a:latin typeface="Segoe UI"/>
              </a:defRPr>
            </a:pPr>
            <a:r>
              <a:t>❌ MODELO TRADICIONAL (ALERTA ESCUELA / EXCEL)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Anotaciones dispersas en papel: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  El docente anota en libretas durante el día y debe transcribir en su tiempo libre en casa.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Acceso exclusivo del director: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  Los docentes no tienen acceso directo a Alerta Escuela; los reportes son bimestrales y lentos.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45 minutos por semana de papeleo: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  Llenado manual de tablas complejas de conclusiones descriptivas y asistencia.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Llega tarde para prevenir: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  Cuando el semáforo marca rojo en SIAGIE, el estudiante ya acumula semanas de inasistencia.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120640" cy="4572000"/>
          </a:xfrm>
          <a:prstGeom prst="roundRect">
            <a:avLst/>
          </a:prstGeom>
          <a:solidFill>
            <a:srgbClr val="162030"/>
          </a:solidFill>
          <a:ln>
            <a:solidFill>
              <a:srgbClr val="00A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A884"/>
                </a:solidFill>
                <a:latin typeface="Segoe UI"/>
              </a:defRPr>
            </a:pPr>
            <a:r>
              <a:t>✅ CON AMAUTA·IA (COPILOTO WHATSAPP)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15 segundos por nota de voz: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  Basta presionar el micrófono entre clases o al final de la sesión; sin pantallas complejas.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Cero fricción de adopción: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  El 100% de los docentes peruanos ya usa WhatsApp a diario; no hay curvas de aprendizaje.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Mapeo curricular automático: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  Convierte el lenguaje cotidiano del profesor en categorías y competencias formales del CNEB.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Alerta temprana en tiempo real: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  Dirección y UGEL ven la información agregada al instante sin pedir reportes manuales.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9184"/>
          </a:xfrm>
          <a:prstGeom prst="roundRect">
            <a:avLst/>
          </a:prstGeom>
          <a:solidFill>
            <a:srgbClr val="26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A884"/>
                </a:solidFill>
                <a:latin typeface="Segoe UI"/>
              </a:defRPr>
            </a:pPr>
            <a:r>
              <a:t>CONCLUSIÓN PARA EL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Menos Pantallas, Más Pedagogía: El Impacto de Amauta·IA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La verdadera innovación no es obligar al docente a usar otro software, sino llevar la IA al canal donde ya vive.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83280" cy="2743200"/>
          </a:xfrm>
          <a:prstGeom prst="roundRect">
            <a:avLst/>
          </a:prstGeom>
          <a:solidFill>
            <a:srgbClr val="162030"/>
          </a:solidFill>
          <a:ln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00A884"/>
                </a:solidFill>
                <a:latin typeface="Segoe UI"/>
              </a:defRPr>
            </a:pPr>
            <a:r>
              <a:t>15s</a:t>
            </a:r>
          </a:p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Tiempo promedio de registro</a:t>
            </a:r>
          </a:p>
          <a:p>
            <a:pPr algn="ctr"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Frente a 30-45 minutos semanales en hojas de cálculo tradicionales.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20240"/>
            <a:ext cx="3383280" cy="2743200"/>
          </a:xfrm>
          <a:prstGeom prst="roundRect">
            <a:avLst/>
          </a:prstGeom>
          <a:solidFill>
            <a:srgbClr val="162030"/>
          </a:solidFill>
          <a:ln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2563EB"/>
                </a:solidFill>
                <a:latin typeface="Segoe UI"/>
              </a:defRPr>
            </a:pPr>
            <a:r>
              <a:t>100%</a:t>
            </a:r>
          </a:p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Adopción sin capacitación</a:t>
            </a:r>
          </a:p>
          <a:p>
            <a:pPr algn="ctr"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Funciona directamente sobre WhatsApp sin descargas ni credenciales nuevas.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920240"/>
            <a:ext cx="3383280" cy="2743200"/>
          </a:xfrm>
          <a:prstGeom prst="roundRect">
            <a:avLst/>
          </a:prstGeom>
          <a:solidFill>
            <a:srgbClr val="162030"/>
          </a:solidFill>
          <a:ln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F59E0B"/>
                </a:solidFill>
                <a:latin typeface="Segoe UI"/>
              </a:defRPr>
            </a:pPr>
            <a:r>
              <a:t>0</a:t>
            </a:r>
          </a:p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Burocracia extra para el docente</a:t>
            </a:r>
          </a:p>
          <a:p>
            <a:pPr algn="ctr"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La IA asume la transcripción, la desambiguación y el reporte curricular.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937760"/>
            <a:ext cx="10698480" cy="1371600"/>
          </a:xfrm>
          <a:prstGeom prst="roundRect">
            <a:avLst/>
          </a:prstGeom>
          <a:solidFill>
            <a:srgbClr val="26344A"/>
          </a:solidFill>
          <a:ln>
            <a:solidFill>
              <a:srgbClr val="00A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A884"/>
                </a:solidFill>
                <a:latin typeface="Segoe UI"/>
              </a:defRPr>
            </a:pPr>
            <a:r>
              <a:t>🎯 MENSAJE FINAL PARA EL JURADO</a:t>
            </a:r>
          </a:p>
          <a:p>
            <a:pPr>
              <a:spcBef>
                <a:spcPts val="600"/>
              </a:spcBef>
              <a:defRPr sz="1300" i="1">
                <a:solidFill>
                  <a:srgbClr val="FFFFFF"/>
                </a:solidFill>
                <a:latin typeface="Segoe UI"/>
              </a:defRPr>
            </a:pPr>
            <a:r>
              <a:t>"Alerta Escuela falla no por falta de algoritmos, sino porque los datos llegan 2 meses tarde. Al darle al docente un copiloto por WhatsApp que convierte notas de voz en datos estructurados en 15 segundos, cerramos la brecha entre el aula y la política pública."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